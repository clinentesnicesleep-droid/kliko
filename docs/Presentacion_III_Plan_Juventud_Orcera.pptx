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orcera-you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0"/>
            <a:ext cx="59737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0"/>
            <a:ext cx="13716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10B981"/>
                </a:solidFill>
              </a:defRPr>
            </a:pPr>
            <a:r>
              <a:t>🏛️ AYUNTAMIENTO DE ORCERA · SIERRA DE SEGURA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III Plan Municipal\nde Juventud</a:t>
            </a:r>
          </a:p>
          <a:p>
            <a:pPr>
              <a:spcAft>
                <a:spcPts val="1800"/>
              </a:spcAft>
              <a:defRPr sz="1600" b="1">
                <a:solidFill>
                  <a:srgbClr val="06B6D4"/>
                </a:solidFill>
              </a:defRPr>
            </a:pPr>
            <a:r>
              <a:t>Periodo de Vigencia Quinquenal 2027–2031</a:t>
            </a:r>
          </a:p>
          <a:p>
            <a:pPr>
              <a:spcAft>
                <a:spcPts val="2400"/>
              </a:spcAft>
              <a:defRPr sz="1150">
                <a:solidFill>
                  <a:srgbClr val="94A3B8"/>
                </a:solidFill>
              </a:defRPr>
            </a:pPr>
            <a:r>
              <a:t>Presentación Oficial ante el Alcalde y el Pleno Municipal:</a:t>
            </a:r>
            <a:br/>
            <a:r>
              <a:t>Propuesta de Aprobación, Aplicación Web Cívica, Cronograma Quinquenal de los 7 Ejes y Estrategia de Dinamización Juvenil.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4754880" cy="82296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✓ 7 Ejes Estratégicos · 63 Acciones Oficiales · 75.000 € Inversión</a:t>
            </a:r>
          </a:p>
          <a:p>
            <a:pPr>
              <a:defRPr sz="950">
                <a:solidFill>
                  <a:srgbClr val="D1FAE5"/>
                </a:solidFill>
              </a:defRPr>
            </a:pPr>
            <a:r>
              <a:t>✓ App PWA Móvil Activa · Premios Amurjo · Asociación Juvenil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1. DIAGNÓSTICO DE PARTIDA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El Desafío: Conectar con la Juventud y Frenar la Despoblación Rural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F87171"/>
                </a:solidFill>
              </a:defRPr>
            </a:pPr>
            <a:r>
              <a:t>SITUACIÓN ANTERIOR / PROBLEMAS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Falta de canales directos de participación juvenil en las decisiones municipales.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Riesgo de despoblación juvenil y desconexión con los recursos locales de Orcera.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Desconocimiento generalizado de las ayudas, cursos y actividades municipales.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Falta de transparencia en presupuestos y plazos de ejecución.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Asociación juvenil histórica inactiva o con baja implicación de nuevas generaciones.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SOLUCIÓN: EL III PLAN Y SU APP DIGITAL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✓ Plataforma Digital Cívica accesible 24/7 desde cualquier teléfono móvil sin descargas.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✓ 7 Ejes estratégicos con 63 acciones detalladas con responsables y calendario.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✓ Sistema de Gamificación 'Premios Amurjo': pases de piscina y pádel por participar.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✓ Reactivación de la Asociación Juvenil con Carnet Digital Oficial y Cuota Cero.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✓ Buzón Participativo Directo con traslado de propuestas al Pleno Municipal.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2. EXPERIENCIA DE USUARIO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Cómo Ven la App los Jóvenes en sus Propios Teléfonos Móviles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758952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06B6D4"/>
                </a:solidFill>
              </a:defRPr>
            </a:pPr>
            <a:r>
              <a:t>DISEÑADA ESPECÍFICAMENTE PARA LA JUVENTUD RURAL ACTUAL</a:t>
            </a:r>
          </a:p>
          <a:p>
            <a:pPr>
              <a:spcAft>
                <a:spcPts val="800"/>
              </a:spcAft>
              <a:defRPr b="1" sz="1050">
                <a:solidFill>
                  <a:srgbClr val="FFFFFF"/>
                </a:solidFill>
              </a:defRPr>
            </a:pPr>
            <a:r>
              <a:t>• Interfaz Móvil Nativa (PWA): </a:t>
            </a:r>
            <a:r>
              <a:rPr b="0">
                <a:solidFill>
                  <a:srgbClr val="94A3B8"/>
                </a:solidFill>
              </a:rPr>
              <a:t>No requiere buscar en Google Play ni App Store; se instala en 1 segundo con icono directo en pantalla.</a:t>
            </a:r>
          </a:p>
          <a:p>
            <a:pPr>
              <a:spcAft>
                <a:spcPts val="800"/>
              </a:spcAft>
              <a:defRPr b="1" sz="1050">
                <a:solidFill>
                  <a:srgbClr val="FFFFFF"/>
                </a:solidFill>
              </a:defRPr>
            </a:pPr>
            <a:r>
              <a:t>• Navegación Visual Intuitiva: </a:t>
            </a:r>
            <a:r>
              <a:rPr b="0">
                <a:solidFill>
                  <a:srgbClr val="94A3B8"/>
                </a:solidFill>
              </a:rPr>
              <a:t>Colores vibrantes, tipografía moderna e iconos por cada uno de los 7 ejes y sus proyectos.</a:t>
            </a:r>
          </a:p>
          <a:p>
            <a:pPr>
              <a:spcAft>
                <a:spcPts val="800"/>
              </a:spcAft>
              <a:defRPr b="1" sz="1050">
                <a:solidFill>
                  <a:srgbClr val="FFFFFF"/>
                </a:solidFill>
              </a:defRPr>
            </a:pPr>
            <a:r>
              <a:t>• Consulta Rápida de Proyectos: </a:t>
            </a:r>
            <a:r>
              <a:rPr b="0">
                <a:solidFill>
                  <a:srgbClr val="94A3B8"/>
                </a:solidFill>
              </a:rPr>
              <a:t>Los jóvenes ven exactamente qué actividades hay, en qué estado están y qué concejalía responde.</a:t>
            </a:r>
          </a:p>
          <a:p>
            <a:pPr>
              <a:spcAft>
                <a:spcPts val="800"/>
              </a:spcAft>
              <a:defRPr b="1" sz="1050">
                <a:solidFill>
                  <a:srgbClr val="FFFFFF"/>
                </a:solidFill>
              </a:defRPr>
            </a:pPr>
            <a:r>
              <a:t>• Votación y Participación Ágil: </a:t>
            </a:r>
            <a:r>
              <a:rPr b="0">
                <a:solidFill>
                  <a:srgbClr val="94A3B8"/>
                </a:solidFill>
              </a:rPr>
              <a:t>Encuestas, propuestas y valoración de acciones en menos de 3 toques.</a:t>
            </a:r>
          </a:p>
          <a:p>
            <a:pPr>
              <a:spcAft>
                <a:spcPts val="800"/>
              </a:spcAft>
              <a:defRPr b="1" sz="1050">
                <a:solidFill>
                  <a:srgbClr val="FFFFFF"/>
                </a:solidFill>
              </a:defRPr>
            </a:pPr>
            <a:r>
              <a:t>• Puntos Cívicos Acumulables: </a:t>
            </a:r>
            <a:r>
              <a:rPr b="0">
                <a:solidFill>
                  <a:srgbClr val="94A3B8"/>
                </a:solidFill>
              </a:rPr>
              <a:t>Recompensas automáticas canjeables por pases y ventajas en instalaciones locales.</a:t>
            </a:r>
          </a:p>
        </p:txBody>
      </p:sp>
      <p:pic>
        <p:nvPicPr>
          <p:cNvPr id="5" name="Picture 4" descr="pantallazo_movil_in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20"/>
            <a:ext cx="26517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</a:defRPr>
            </a:pPr>
            <a:r>
              <a:t>3.1. PLANIFICACIÓN TEMPORAL · EJE 1 DE 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🌲 Eje 1: Entorno Sostenible, Digital y Conectado (9 Acciones · 2027–2031)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  Presupuesto Quinquenal: 12.500 € (2.500 €/año)   |   Naturaleza protegida y futuro digital desde la Sierra de Segura   |   Leyenda: [■] Año Activo  [—] No Activo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3695"/>
                <a:gridCol w="841248"/>
                <a:gridCol w="841248"/>
                <a:gridCol w="841248"/>
                <a:gridCol w="841248"/>
                <a:gridCol w="841248"/>
                <a:gridCol w="1188720"/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Medida / Proyecto Oficial (9)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2027 (A1)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2028 (A2)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2029 (A3)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2030 (A4)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2031 (A5)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Duración Total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[ACC-1.1.1] Sensibilización ambiental anual, jornadas de limpieza y rutas interpretativas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[ACC-1.1.2] Iniciativas juveniles para la conservación y puesta en valor del patrimonio natural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[ACC-1.1.3] Campañas de reciclaje, consumo responsable, ahorro energético y cuidado del agua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BBF24"/>
                          </a:solidFill>
                        </a:defRPr>
                      </a:pPr>
                      <a:r>
                        <a:t>1 Año (2027)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[ACC-1.2.1] Talleres de competencias digitales aplicadas al empleo y trámites administrativos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[ACC-1.2.2] Uso seguro y responsable de internet, ciberseguridad y prevención de desinformación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60A5FA"/>
                          </a:solidFill>
                        </a:defRPr>
                      </a:pPr>
                      <a:r>
                        <a:t>3 Años (60%)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[ACC-1.2.3] Adecuación y dinamización de puntos de acceso a internet en el Telecentro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[ACC-1.3.1] Talleres de iniciación a programación, robótica y nuevas tecnologías aplicadas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BBF24"/>
                          </a:solidFill>
                        </a:defRPr>
                      </a:pPr>
                      <a:r>
                        <a:t>1 Año (2027)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[ACC-1.3.2] Puntos de recarga de dispositivos y mejora de conectividad en espacios juveniles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[ACC-1.3.3] Promoción de iniciativas juveniles vinculadas a la innovación y sostenibilidad local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</a:defRPr>
            </a:pPr>
            <a:r>
              <a:t>3.2. PLANIFICACIÓN TEMPORAL · EJE 2 DE 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🎭 Eje 2: Ocio, Cultura, deporte y Vida Saludable (9 Acciones · 2027–2031)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  Presupuesto Quinquenal: 13.000 € (2.600 €/año)   |   Cultura viva, deporte, hábitos saludables y creatividad en Orcera   |   Leyenda: [■] Año Activo  [—] No Activo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3695"/>
                <a:gridCol w="841248"/>
                <a:gridCol w="841248"/>
                <a:gridCol w="841248"/>
                <a:gridCol w="841248"/>
                <a:gridCol w="841248"/>
                <a:gridCol w="1188720"/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Medida / Proyecto Oficial (9)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2027 (A1)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2028 (A2)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2029 (A3)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2030 (A4)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2031 (A5)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Duración Total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[ACC-2.1.1] Programación anual de ocio educativo: talleres, jornadas temáticas y convivencias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[ACC-2.1.2] Actividades de ocio alternativo nocturno y de fin de semana en espacios municipales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[ACC-2.1.3] Participación activa de la juventud en el diseño de las actividades de ocio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BBF24"/>
                          </a:solidFill>
                        </a:defRPr>
                      </a:pPr>
                      <a:r>
                        <a:t>1 Año (2027)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[ACC-2.2.1] Talleres culturales, artísticos y creativos: música, artes plásticas y creación digital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[ACC-2.2.2] Espacios y certámenes para la exposición y difusión de creaciones artísticas jóvenes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60A5FA"/>
                          </a:solidFill>
                        </a:defRPr>
                      </a:pPr>
                      <a:r>
                        <a:t>3 Años (60%)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[ACC-2.2.3] Facilitación del acceso juvenil a eventos culturales y tradiciones locales de Orcera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[ACC-2.3.1] Programación deportiva juvenil: ligas locales, torneos de pádel y actividades de montaña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BBF24"/>
                          </a:solidFill>
                        </a:defRPr>
                      </a:pPr>
                      <a:r>
                        <a:t>1 Año (2027)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[ACC-2.3.2] Campañas y talleres de hábitos de vida saludables y nutrición equilibrada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[ACC-2.3.3] Actividades deportivas inclusivas, intergeneracionales y de convivencia comunitaria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59E0B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3.3. PLANIFICACIÓN TEMPORAL · EJE 3 DE 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💼 Eje 3: Emancipación, Empleo, Formación y Vivienda (9 Acciones · 2027–2031)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  Presupuesto Quinquenal: 14.500 € (2.900 €/año)   |   Oportunidades de empleo, formación técnica y acceso a la vivienda rural   |   Leyenda: [■] Año Activo  [—] No Activo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3695"/>
                <a:gridCol w="841248"/>
                <a:gridCol w="841248"/>
                <a:gridCol w="841248"/>
                <a:gridCol w="841248"/>
                <a:gridCol w="841248"/>
                <a:gridCol w="1188720"/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Medida / Proyecto Oficial (9)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2027 (A1)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2028 (A2)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2029 (A3)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2030 (A4)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2031 (A5)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Duración Total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[ACC-3.1.1] Difusión continuada de oferta formativa: FP, universidad, becas e itinerarios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[ACC-3.1.2] Sesiones de orientación académica y profesional personalizada para jóvenes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[ACC-3.1.3] Cursos formativos presenciales y online adaptados a los sectores emergentes locales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BBF24"/>
                          </a:solidFill>
                        </a:defRPr>
                      </a:pPr>
                      <a:r>
                        <a:t>1 Año (2027)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[ACC-3.2.1] Bolsa de empleo joven, difusión de ofertas, planes de empleo y orientación laboral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[ACC-3.2.2] Talleres de preparación laboral: currículum digital, entrevistas y búsqueda activa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60A5FA"/>
                          </a:solidFill>
                        </a:defRPr>
                      </a:pPr>
                      <a:r>
                        <a:t>3 Años (60%)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[ACC-3.2.3] Asesoramiento al emprendimiento, autoempleo y ayudas a la creación de negocios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[ACC-3.3.1] Información y tramitación de ayudas al alquiler y programas de vivienda joven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BBF24"/>
                          </a:solidFill>
                        </a:defRPr>
                      </a:pPr>
                      <a:r>
                        <a:t>1 Año (2027)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[ACC-3.3.2] Asesoramiento integral sobre emancipación, contratos y suministros de vivienda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[ACC-3.3.3] Observatorio de necesidades habitacionales juveniles y bolsa local de viviendas vacías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6B6D4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8B5CF6"/>
                </a:solidFill>
              </a:defRPr>
            </a:pPr>
            <a:r>
              <a:t>3.4. PLANIFICACIÓN TEMPORAL · EJE 4 DE 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🤝 Eje 4: Participación Juvenil, Ciudadanía Activa y Voluntariado (9 Acciones · 2027–2031)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  Presupuesto Quinquenal: 10.000 € (2.000 €/año)   |   Asociacionismo, voluntariado activo y codecisión en los asuntos del pueblo   |   Leyenda: [■] Año Activo  [—] No Activo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3695"/>
                <a:gridCol w="841248"/>
                <a:gridCol w="841248"/>
                <a:gridCol w="841248"/>
                <a:gridCol w="841248"/>
                <a:gridCol w="841248"/>
                <a:gridCol w="1188720"/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Medida / Proyecto Oficial (9)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2027 (A1)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2028 (A2)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2029 (A3)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2030 (A4)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2031 (A5)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Duración Total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[ACC-4.1.1] Encuentros periódicos entre jóvenes y Ayuntamiento: diálogo directo y propuestas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[ACC-4.1.2] Canales digitales y buzón participativo en la app municipal para recogida de ideas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[ACC-4.1.3] Consultas y votaciones juveniles vinculantes sobre programación municipal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BBF24"/>
                          </a:solidFill>
                        </a:defRPr>
                      </a:pPr>
                      <a:r>
                        <a:t>1 Año (2027)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[ACC-4.2.1] Apoyo a la reactivación formal de la Asociación Juvenil de Orcera y carnet digital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[ACC-4.2.2] Cesión y autogestión de recursos y espacios municipales para colectivos juveniles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60A5FA"/>
                          </a:solidFill>
                        </a:defRPr>
                      </a:pPr>
                      <a:r>
                        <a:t>3 Años (60%)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[ACC-4.2.3] Convocatoria anual de microayudas para proyectos ideados por jóvenes del municipio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[ACC-4.3.1] Campañas de fomento del voluntariado y solidaridad comunitaria entre jóvenes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BBF24"/>
                          </a:solidFill>
                        </a:defRPr>
                      </a:pPr>
                      <a:r>
                        <a:t>1 Año (2027)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[ACC-4.3.2] Programa de voluntariado medioambiental, cultural y de apoyo a personas mayores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[ACC-4.3.3] Alianzas con entidades sociales comarcales para acreditación de competencias voluntarias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B5C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C4899"/>
                </a:solidFill>
              </a:defRPr>
            </a:pPr>
            <a:r>
              <a:t>3.5. PLANIFICACIÓN TEMPORAL · EJE 5 DE 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❤️ Eje 5: Salud, Bienestar Emocional E Inclusión Social (9 Acciones · 2027–2031)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  Presupuesto Quinquenal: 9.500 € (1.900 €/año)   |   Bienestar emocional, salud mental preventiva e inclusión comunitaria   |   Leyenda: [■] Año Activo  [—] No Activo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3695"/>
                <a:gridCol w="841248"/>
                <a:gridCol w="841248"/>
                <a:gridCol w="841248"/>
                <a:gridCol w="841248"/>
                <a:gridCol w="841248"/>
                <a:gridCol w="1188720"/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Medida / Proyecto Oficial (9)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2027 (A1)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2028 (A2)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2029 (A3)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2030 (A4)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2031 (A5)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Duración Total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[ACC-5.1.1] Campañas preventivas contra adicciones: sustancias, juego patológico y pantallas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[ACC-5.1.2] Talleres de hábitos saludables: descanso, actividad física y gestión del estrés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[ACC-5.1.3] Guía y mapa de recursos sanitarios y de prevención accesibles para jóvenes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BBF24"/>
                          </a:solidFill>
                        </a:defRPr>
                      </a:pPr>
                      <a:r>
                        <a:t>1 Año (2027)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[ACC-5.2.1] Talleres de educación emocional, gestión de la ansiedad, frustración y autoestima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[ACC-5.2.2] Sensibilización contra el estigma en salud mental y promoción del apoyo psicológico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60A5FA"/>
                          </a:solidFill>
                        </a:defRPr>
                      </a:pPr>
                      <a:r>
                        <a:t>3 Años (60%)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[ACC-5.2.3] Servicio de asesoría y orientación psicológica joven y confidencial en Orcera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[ACC-5.3.1] Difusión de recursos sociales de protección y apoyo a familias y juventud vulnerable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BBF24"/>
                          </a:solidFill>
                        </a:defRPr>
                      </a:pPr>
                      <a:r>
                        <a:t>1 Año (2027)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[ACC-5.3.2] Acciones de sensibilización sobre inclusión social, diversidad funcional y accesibilidad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[ACC-5.3.3] Itinerarios de inclusión y acompañamiento individualizado para jóvenes en riesgo social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C4899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B82F6"/>
                </a:solidFill>
              </a:defRPr>
            </a:pPr>
            <a:r>
              <a:t>3.6. PLANIFICACIÓN TEMPORAL · EJE 6 DE 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⚖️ Eje 6: Igualdad, Diversidad y Convivencia (9 Acciones · 2027–2031)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  Presupuesto Quinquenal: 8.000 € (1.600 €/año)   |   Igualdad real, relaciones libres de violencia y respeto a la diversidad   |   Leyenda: [■] Año Activo  [—] No Activo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3695"/>
                <a:gridCol w="841248"/>
                <a:gridCol w="841248"/>
                <a:gridCol w="841248"/>
                <a:gridCol w="841248"/>
                <a:gridCol w="841248"/>
                <a:gridCol w="1188720"/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Medida / Proyecto Oficial (9)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2027 (A1)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2028 (A2)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2029 (A3)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2030 (A4)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2031 (A5)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Duración Total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[ACC-6.1.1] Talleres y campañas de sensibilización en igualdad de género y corresponsabilidad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[ACC-6.1.2] Prevención activa de la violencia machista, relaciones tóxicas y ciberacoso sexista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[ACC-6.1.3] Promoción del lenguaje inclusivo y eliminación de roles y estereotipos sexistas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BBF24"/>
                          </a:solidFill>
                        </a:defRPr>
                      </a:pPr>
                      <a:r>
                        <a:t>1 Año (2027)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[ACC-6.2.1] Sensibilización sobre diversidad cultural, funcional y colectivo LGTBI+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[ACC-6.2.2] Protocolo de inclusión y accesibilidad universal en todas las actividades municipales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60A5FA"/>
                          </a:solidFill>
                        </a:defRPr>
                      </a:pPr>
                      <a:r>
                        <a:t>3 Años (60%)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[ACC-6.2.3] Campañas de tolerancia cero frente al racismo, la xenofobia y los delitos de odio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[ACC-6.3.1] Talleres de comunicación asertiva, resolución pacífica de conflictos y mediación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BBF24"/>
                          </a:solidFill>
                        </a:defRPr>
                      </a:pPr>
                      <a:r>
                        <a:t>1 Año (2027)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[ACC-6.3.2] Actividades de convivencia comunitaria, respeto mutuo y diálogo intergeneracional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[ACC-6.3.3] Pautas de prevención del acoso escolar (bullying) y ciberacoso en centros y redes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3B82F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4B8A6"/>
                </a:solidFill>
              </a:defRPr>
            </a:pPr>
            <a:r>
              <a:t>3.7. PLANIFICACIÓN TEMPORAL · EJE 7 DE 7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🏛️ Eje 7: Gobernanza, Innovación y Evaluación de las Políticas de Juventud (9 Acciones · 2027–2031)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  Presupuesto Quinquenal: 7.500 € (1.500 €/año)   |   Transparencia pública, coordinación municipal y evaluación continua   |   Leyenda: [■] Año Activo  [—] No Activo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3695"/>
                <a:gridCol w="841248"/>
                <a:gridCol w="841248"/>
                <a:gridCol w="841248"/>
                <a:gridCol w="841248"/>
                <a:gridCol w="841248"/>
                <a:gridCol w="1188720"/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Medida / Proyecto Oficial (9)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2027 (A1)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2028 (A2)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2029 (A3)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2030 (A4)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2031 (A5)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Duración Total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[ACC-7.1.1] Comisión de coordinación interconcejalías para transversalidad de las políticas de juventud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[ACC-7.1.2] Convenios con IES El Yelmo, asociaciones locales y agentes socioeconómicos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[ACC-7.1.3] Agenda unificada y calendario anual coordinado de actuaciones con la juventud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BBF24"/>
                          </a:solidFill>
                        </a:defRPr>
                      </a:pPr>
                      <a:r>
                        <a:t>1 Año (2027)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[ACC-7.2.1] Plataforma digital interactiva y métricas ciudadanas en tiempo real para seguimiento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[ACC-7.2.2] Metodologías ágiles e innovadoras en el desarrollo de actividades juveniles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60A5FA"/>
                          </a:solidFill>
                        </a:defRPr>
                      </a:pPr>
                      <a:r>
                        <a:t>3 Años (60%)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[ACC-7.2.3] Intercambio de buenas prácticas con redes de municipios rurales de Andalucía y Europa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[ACC-7.3.1] Cuadro de mando e indicadores oficiales anuales de ejecución del III Plan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BBF24"/>
                          </a:solidFill>
                        </a:defRPr>
                      </a:pPr>
                      <a:r>
                        <a:t>1 Año (2027)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[ACC-7.3.2] Memoria e informe anual de evaluación y rendición de cuentas pública en el Pleno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0B981"/>
                          </a:solidFill>
                        </a:defRPr>
                      </a:pPr>
                      <a:r>
                        <a:t>5 Años (100%)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[ACC-7.3.3] Evaluación final de impacto del Plan (2027–2031) y bases para el IV Plan Municipal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19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B8A6"/>
                          </a:solidFill>
                        </a:defRPr>
                      </a:pPr>
                      <a:r>
                        <a:t>████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084FC"/>
                          </a:solidFill>
                        </a:defRPr>
                      </a:pPr>
                      <a:r>
                        <a:t>2 Años (40%)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4. RIGOR PRESUPUESTARIO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Inversión Responsable: 75.000 € (15.000 € / Año en 7 Ejes)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75895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06B6D4"/>
                </a:solidFill>
              </a:defRPr>
            </a:pPr>
            <a:r>
              <a:t>DESGLOSE QUINQUENAL Y GARANTÍAS PARA EL AYUNTAMIENTO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Eje 1: Entorno Sostenible, Digital y Conectado: </a:t>
            </a:r>
            <a:r>
              <a:rPr b="1">
                <a:solidFill>
                  <a:srgbClr val="10B981"/>
                </a:solidFill>
              </a:rPr>
              <a:t>12.500 € </a:t>
            </a:r>
            <a:r>
              <a:rPr>
                <a:solidFill>
                  <a:srgbClr val="94A3B8"/>
                </a:solidFill>
              </a:rPr>
              <a:t>(16.7%)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Eje 2: Ocio Saludable, Cultura, Deporte y Creación: </a:t>
            </a:r>
            <a:r>
              <a:rPr b="1">
                <a:solidFill>
                  <a:srgbClr val="10B981"/>
                </a:solidFill>
              </a:rPr>
              <a:t>13.000 € </a:t>
            </a:r>
            <a:r>
              <a:rPr>
                <a:solidFill>
                  <a:srgbClr val="94A3B8"/>
                </a:solidFill>
              </a:rPr>
              <a:t>(17.3%)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Eje 3: Emancipación, Empleo, Formación y Vivienda: </a:t>
            </a:r>
            <a:r>
              <a:rPr b="1">
                <a:solidFill>
                  <a:srgbClr val="10B981"/>
                </a:solidFill>
              </a:rPr>
              <a:t>14.500 € </a:t>
            </a:r>
            <a:r>
              <a:rPr>
                <a:solidFill>
                  <a:srgbClr val="94A3B8"/>
                </a:solidFill>
              </a:rPr>
              <a:t>(19.3%)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Eje 4: Participación Juvenil y Voluntariado: </a:t>
            </a:r>
            <a:r>
              <a:rPr b="1">
                <a:solidFill>
                  <a:srgbClr val="10B981"/>
                </a:solidFill>
              </a:rPr>
              <a:t>10.000 € </a:t>
            </a:r>
            <a:r>
              <a:rPr>
                <a:solidFill>
                  <a:srgbClr val="94A3B8"/>
                </a:solidFill>
              </a:rPr>
              <a:t>(13.3%)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Eje 5: Salud, Bienestar Emocional e Inclusión: </a:t>
            </a:r>
            <a:r>
              <a:rPr b="1">
                <a:solidFill>
                  <a:srgbClr val="10B981"/>
                </a:solidFill>
              </a:rPr>
              <a:t>9.500 € </a:t>
            </a:r>
            <a:r>
              <a:rPr>
                <a:solidFill>
                  <a:srgbClr val="94A3B8"/>
                </a:solidFill>
              </a:rPr>
              <a:t>(12.7%)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Eje 6: Igualdad, Diversidad y Convivencia: </a:t>
            </a:r>
            <a:r>
              <a:rPr b="1">
                <a:solidFill>
                  <a:srgbClr val="10B981"/>
                </a:solidFill>
              </a:rPr>
              <a:t>8.000 € </a:t>
            </a:r>
            <a:r>
              <a:rPr>
                <a:solidFill>
                  <a:srgbClr val="94A3B8"/>
                </a:solidFill>
              </a:rPr>
              <a:t>(10.7%)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</a:defRPr>
            </a:pPr>
            <a:r>
              <a:t>• Eje 7: Gobernanza, Innovación y Evaluación: </a:t>
            </a:r>
            <a:r>
              <a:rPr b="1">
                <a:solidFill>
                  <a:srgbClr val="10B981"/>
                </a:solidFill>
              </a:rPr>
              <a:t>7.500 € </a:t>
            </a:r>
            <a:r>
              <a:rPr>
                <a:solidFill>
                  <a:srgbClr val="94A3B8"/>
                </a:solidFill>
              </a:rPr>
              <a:t>(10.0%)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✓ Control por facturas asociadas a proveedores oficiales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✓ Valoración ciudadana en tiempo real (satisfacción actual: 4.8 ★)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✓ Datos exportables para justificación ante el IAJ, Diputación y Fondos Europeos</a:t>
            </a:r>
          </a:p>
        </p:txBody>
      </p:sp>
      <p:pic>
        <p:nvPicPr>
          <p:cNvPr id="5" name="Picture 4" descr="pantallazo_movil_ej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554480"/>
            <a:ext cx="27432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5. GAMIFICACIÓN CÍVICA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Premios Amurjo: La Participación Tiene Recompensa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75895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06B6D4"/>
                </a:solidFill>
              </a:defRPr>
            </a:pPr>
            <a:r>
              <a:t>LOS 4 NIVELES CÍVICOS DE ORCERA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★ Nivel 1: Explorador/a del Municipio de Orcera (0-150 pts)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Acceso libre al plan, primer voto y alta en padrón.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★ Nivel 2: Activista de Orcera (151-400 pts)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Evaluación de ejes y canjes de pases para la Piscina de Amurjo.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★ Nivel 3: Motor de Orcera (401-800 pts)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Prioridad en pistas de pádel, cursos DJ y talleres de robótica.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★ Nivel 4: Leyenda Joven de Orcera (+800 pts)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Voz directa y debate de sus propuestas en el Pleno Municipal.</a:t>
            </a:r>
          </a:p>
        </p:txBody>
      </p:sp>
      <p:pic>
        <p:nvPicPr>
          <p:cNvPr id="5" name="Picture 4" descr="pantallazo_movil_gamific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554480"/>
            <a:ext cx="27432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6. TEJIDO ASOCIATIVO Y ESCUCHA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Asociación Juvenil de Orcera y Buzón Participativo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75895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C084FC"/>
                </a:solidFill>
              </a:defRPr>
            </a:pPr>
            <a:r>
              <a:t>REGENERANDO EL LIDERAZGO JOVEN EN EL PUEBLO</a:t>
            </a:r>
          </a:p>
          <a:p>
            <a:pPr>
              <a:spcAft>
                <a:spcPts val="800"/>
              </a:spcAft>
              <a:defRPr b="1" sz="1000">
                <a:solidFill>
                  <a:srgbClr val="FFFFFF"/>
                </a:solidFill>
              </a:defRPr>
            </a:pPr>
            <a:r>
              <a:t>• Alta 100% Gratuita de Bienvenida: </a:t>
            </a:r>
            <a:r>
              <a:rPr b="0">
                <a:solidFill>
                  <a:srgbClr val="94A3B8"/>
                </a:solidFill>
              </a:rPr>
              <a:t>Al registrarse en el Plan, el joven recibe la membresía a cuota cero sin burocracia.</a:t>
            </a:r>
          </a:p>
          <a:p>
            <a:pPr>
              <a:spcAft>
                <a:spcPts val="800"/>
              </a:spcAft>
              <a:defRPr b="1" sz="1000">
                <a:solidFill>
                  <a:srgbClr val="FFFFFF"/>
                </a:solidFill>
              </a:defRPr>
            </a:pPr>
            <a:r>
              <a:t>• Carnet Digital Instantáneo: </a:t>
            </a:r>
            <a:r>
              <a:rPr b="0">
                <a:solidFill>
                  <a:srgbClr val="94A3B8"/>
                </a:solidFill>
              </a:rPr>
              <a:t>Emisión en pantalla del carnet oficial con número único (#AJO-2027-...) y código QR.</a:t>
            </a:r>
          </a:p>
          <a:p>
            <a:pPr>
              <a:spcAft>
                <a:spcPts val="800"/>
              </a:spcAft>
              <a:defRPr b="1" sz="1000">
                <a:solidFill>
                  <a:srgbClr val="FFFFFF"/>
                </a:solidFill>
              </a:defRPr>
            </a:pPr>
            <a:r>
              <a:t>• Espacio Joven en Funcionamiento: </a:t>
            </a:r>
            <a:r>
              <a:rPr b="0">
                <a:solidFill>
                  <a:srgbClr val="94A3B8"/>
                </a:solidFill>
              </a:rPr>
              <a:t>Organización de talleres de diseño, música, festivales culturales y excursiones.</a:t>
            </a:r>
          </a:p>
          <a:p>
            <a:pPr>
              <a:spcAft>
                <a:spcPts val="800"/>
              </a:spcAft>
              <a:defRPr b="1" sz="1000">
                <a:solidFill>
                  <a:srgbClr val="FFFFFF"/>
                </a:solidFill>
              </a:defRPr>
            </a:pPr>
            <a:r>
              <a:t>• Buzón Participativo Directo: </a:t>
            </a:r>
            <a:r>
              <a:rPr b="0">
                <a:solidFill>
                  <a:srgbClr val="94A3B8"/>
                </a:solidFill>
              </a:rPr>
              <a:t>Las propuestas que sumen 25 apoyos se trasladan a debate en Pleno.</a:t>
            </a:r>
          </a:p>
        </p:txBody>
      </p:sp>
      <p:pic>
        <p:nvPicPr>
          <p:cNvPr id="5" name="Picture 4" descr="pantallazo_movil_bu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554480"/>
            <a:ext cx="27432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7. CERO FRICCIÓN Y DIFUSIÓN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¿Cómo Llega la App a los Teléfonos de los Jóvenes?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758952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1. Sin Descargas de Tiendas (PWA)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Funciona como Aplicación Web Progresiva. No necesitan buscar en Google Play ni App Store; al abrir el enlace con 1 toque la añaden a la pantalla de inicio con icono propio.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82112"/>
            <a:ext cx="758952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2. Difusión Viral por WhatsApp (+25 Pts)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Cada joven dispone de su propio enlace de embajador/a. Con 1 clic en «Compartir por WhatsApp» invitan a colegas y ganan +25 Puntos Cívicos para Amurjo.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09744"/>
            <a:ext cx="758952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FF5722"/>
                </a:solidFill>
              </a:defRPr>
            </a:pPr>
            <a:r>
              <a:t>3. Cartelería Oficial Lista &amp; QR Físico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Generación e impresión directa de carteles oficiales en formato A4/A3 con código QR de alta resolución para el IES El Yelmo, bares y el Espacio Joven.</a:t>
            </a:r>
          </a:p>
        </p:txBody>
      </p:sp>
      <p:pic>
        <p:nvPicPr>
          <p:cNvPr id="7" name="Picture 6" descr="pantallazo_movil_promo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554480"/>
            <a:ext cx="27432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8. RETORNO POLÍTICO Y SOCIAL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Consecuencias y Beneficios para el Ayuntamiento de Orcera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🏆 Liderazgo Comarcal y Provincial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Orcera se posiciona como el municipio pionero e innovador de la Sierra de Segura y de la provincia de Jaén en modernización de políticas de juventud.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73736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06B6D4"/>
                </a:solidFill>
              </a:defRPr>
            </a:pPr>
            <a:r>
              <a:t>💶 Captación de Subvenciones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Disponer de métricas, datos contables en vivo y participación demostrable nos sitúa a la cabeza para captar fondos del IAJ, Diputación y Fondos Europeos.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FF5722"/>
                </a:solidFill>
              </a:defRPr>
            </a:pPr>
            <a:r>
              <a:t>🌲 Reto Demográfico y Arraigo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Frenamos la fuga de talento haciendo que los jóvenes se sientan protagonistas activos, escuchados y con alternativas reales de ocio y empleo en su pueblo.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416052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A855F7"/>
                </a:solidFill>
              </a:defRPr>
            </a:pPr>
            <a:r>
              <a:t>🔒 Cero Costes de Licencias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Desarrollado con estándares web abiertos, sin pagar cuotas mensuales a multinacionales externas ni depender de empresas intermediarias.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9. VOTACIÓN Y APROBACIÓN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Propuesta de Acuerdo Plenario para su Ratificación Oficial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1300" b="1">
                <a:solidFill>
                  <a:srgbClr val="6EE7B7"/>
                </a:solidFill>
              </a:defRPr>
            </a:pPr>
            <a:r>
              <a:t>DICTAMEN / ACUERDO DEL PLENO DEL AYUNTAMIENTO DE ORCERA: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PRIMERO: Aprobar con carácter oficial el «III Plan Municipal de Juventud de Orcera (2027–2031)» como instrumento rector de las políticas locales de juventud del municipio.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SEGUNDO: Ratificar la puesta en marcha de la Plataforma Web y Aplicación Cívica Municipal como canal oficial de participación, difusión, transparencia presupuestaria y dinamización juvenil.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TERCERO: Respaldar la reactivación formal de la Asociación Juvenil de Orcera, incorporando la cuota cero de bienvenida y el carnet digital de socio a través de la plataforma.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CUARTO: Facultar a la Alcaldía-Presidencia y a la Concejalía delegada de Juventud para la ejecución, dinamización y seguimiento de las acciones recogidas en dicho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